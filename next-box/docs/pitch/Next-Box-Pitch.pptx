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Box prints your to-do list on small labels and stickers, made for people with ADHD. You check things off with a pen, take a photo, and your list updates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productivity tools assume executive function the user may not have. The fix isn't a better app. It's getting the list out of the phone and into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renders from the Next Box code, not mockups.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adult ADHD prevalence figure is a commonly cited estimate; check the latest source before using it in a pitch to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548640" cy="10972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2011680"/>
            <a:ext cx="548640" cy="10972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548640" cy="10972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40" y="2011680"/>
            <a:ext cx="548640" cy="10972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2011680"/>
            <a:ext cx="548640" cy="10972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548640" cy="10972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0" y="2011680"/>
            <a:ext cx="548640" cy="10972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67665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Next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DDDDDD"/>
                </a:solidFill>
                <a:latin typeface="Calibri"/>
              </a:rPr>
              <a:t>Your to-do list, on paper you can hold.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6400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B0B0B0"/>
                </a:solidFill>
                <a:latin typeface="Calibri"/>
              </a:rPr>
              <a:t>A paper-first to-do system for ADHD brains: thermal labels, colored tags and photo read-back, connected to the apps you already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09090"/>
                </a:solidFill>
                <a:latin typeface="Calibri"/>
              </a:rPr>
              <a:t>Product overview and pitch  ·  v0.9.6  ·  nextbox.braznarkel.com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713232"/>
            <a:ext cx="4268125" cy="5431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i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822960"/>
            <a:ext cx="404866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To-do apps are built for brains that remember to open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Out of sight, out of mind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For many people with ADHD, a task inside an app on a locked phone may as well not exist. To-do apps depend on you remembering to open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67128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Too much at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A screen holding 47 overdue tasks in red is overwhelming, and that feeling stops people before they start.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79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7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Paper works, but it doesn't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79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Sticky notes and paper planners are visible and satisfying to check off. But they get lost, they go stale, and they never match your 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79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70247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Guilt, not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79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Most apps say 'OVERDUE' in red. For someone who already struggles with time, that reads as shame, not as a nudge.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Put the list in the room, and keep it in 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60350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1B1B1B"/>
                </a:solidFill>
                <a:latin typeface="Calibri"/>
              </a:rPr>
              <a:t>Next Box connects the to-do app you already use to a small label printer. With one tap it prints today's list, or one sticker per task to put where the task happens: on the fridge, the front door, the laptop. Check boxes with a pen, take a photo, and Next Box marks those tasks done in your app. You don't have to type them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6035040" cy="173736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55778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5A4300"/>
                </a:solidFill>
                <a:latin typeface="Calibri"/>
              </a:rPr>
              <a:t>Not another to-do app.</a:t>
            </a:r>
          </a:p>
          <a:p>
            <a:pPr algn="l"/>
            <a:r>
              <a:rPr sz="1600" b="0">
                <a:solidFill>
                  <a:srgbClr val="5A4300"/>
                </a:solidFill>
                <a:latin typeface="Calibri"/>
              </a:rPr>
              <a:t>Next Box adds paper on top of the app you already use: Todoist, Notion, Google Tasks and others, or its own simple built-in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2" y="1810512"/>
            <a:ext cx="3472281" cy="4425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20240"/>
            <a:ext cx="3252825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Plan → Print → Do → Snap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25603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2560320" cy="10972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  <a:latin typeface="Calibri"/>
              </a:rPr>
              <a:t>1 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219456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Add tasks in Next Box's own list or in your usual app. Type a whole brain dump at 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103120"/>
            <a:ext cx="25603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103120"/>
            <a:ext cx="2560320" cy="10972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423160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  <a:latin typeface="Calibri"/>
              </a:rPr>
              <a:t>2  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19456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Tap to print the daily list, stickers, tear-off strips or one big 'just one thing' card.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03120"/>
            <a:ext cx="25603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2560320" cy="10972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423160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  <a:latin typeface="Calibri"/>
              </a:rPr>
              <a:t>3  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219456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Stick it where you'll see it. Check boxes, arrow things to tomorrow, cross out what's dropped.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39" y="2103120"/>
            <a:ext cx="25603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39" y="2103120"/>
            <a:ext cx="2560320" cy="10972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39" y="2423160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  <a:latin typeface="Calibri"/>
              </a:rPr>
              <a:t>4  Snap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108960"/>
            <a:ext cx="219456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Take a photo. Next Box reads your pen marks, shows what it found, and updates your 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Read-back works on every print: each box has a row number, and the label code ties the photo to exactly what was printed.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WHAT IT PRINTS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Four formats, one tap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1901952"/>
            <a:ext cx="2322576" cy="29390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2103120" cy="27195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498348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B1B1B"/>
                </a:solidFill>
                <a:latin typeface="Calibri"/>
              </a:rPr>
              <a:t>Daily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26060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Today on one label: your calendar, up to 5 tasks, the next tiny step for each, and yesterday's wins.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3592" y="1901952"/>
            <a:ext cx="2322576" cy="2926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tick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011680"/>
            <a:ext cx="2103120" cy="2707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74720" y="498348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B1B1B"/>
                </a:solidFill>
                <a:latin typeface="Calibri"/>
              </a:rPr>
              <a:t>Stickers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349240"/>
            <a:ext cx="26060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One task per sticker with a tag color band, cut apart, to put where the task happens.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232" y="1901952"/>
            <a:ext cx="2322576" cy="17242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ri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11680"/>
            <a:ext cx="2103120" cy="15048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498348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B1B1B"/>
                </a:solidFill>
                <a:latin typeface="Calibri"/>
              </a:rPr>
              <a:t>Tear-off strips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349240"/>
            <a:ext cx="26060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A list on one label with dashed cut lines. Tear off one task at a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62872" y="1901952"/>
            <a:ext cx="2322576" cy="2138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o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011680"/>
            <a:ext cx="2103120" cy="191879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44000" y="498348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B1B1B"/>
                </a:solidFill>
                <a:latin typeface="Calibri"/>
              </a:rPr>
              <a:t>Just one 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49240"/>
            <a:ext cx="26060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For overwhelming days: one task, printed huge, with tiny steps and a 'start by'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DESIGNED FOR ADHD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Every default is chosen to lower the barrier to starting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Five things, not fifty  </a:t>
            </a:r>
            <a:r>
              <a:rPr sz="1500">
                <a:solidFill>
                  <a:srgbClr val="6B6B6B"/>
                </a:solidFill>
                <a:latin typeface="Calibri"/>
              </a:rPr>
              <a:t>The daily ticket shows at most 5 tasks. The rest go in a small 'Not today' line, so they aren't forgotten but don't take over.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Gentle words  </a:t>
            </a:r>
            <a:r>
              <a:rPr sz="1500">
                <a:solidFill>
                  <a:srgbClr val="6B6B6B"/>
                </a:solidFill>
                <a:latin typeface="Calibri"/>
              </a:rPr>
              <a:t>It says 'waiting 3d', not 'OVERDUE'. Repeating tasks move ahead instead of piling up.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The next tiny step  </a:t>
            </a:r>
            <a:r>
              <a:rPr sz="1500">
                <a:solidFill>
                  <a:srgbClr val="6B6B6B"/>
                </a:solidFill>
                <a:latin typeface="Calibri"/>
              </a:rPr>
              <a:t>Under each task: the first small action ("Open the draft"). Starting is the hard part.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Wins first  </a:t>
            </a:r>
            <a:r>
              <a:rPr sz="1500">
                <a:solidFill>
                  <a:srgbClr val="6B6B6B"/>
                </a:solidFill>
                <a:latin typeface="Calibri"/>
              </a:rPr>
              <a:t>"Yesterday you finished 4. ✓" is printed on today's ticket.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Brain dump  </a:t>
            </a:r>
            <a:r>
              <a:rPr sz="1500">
                <a:solidFill>
                  <a:srgbClr val="6B6B6B"/>
                </a:solidFill>
                <a:latin typeface="Calibri"/>
              </a:rPr>
              <a:t>Type everything at once, one task per line. Next Box understands #tags, !priority, 'tomorrow 3pm', '~15m' and 'every weekday'.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Colored tags you can see  </a:t>
            </a:r>
            <a:r>
              <a:rPr sz="1500">
                <a:solidFill>
                  <a:srgbClr val="6B6B6B"/>
                </a:solidFill>
                <a:latin typeface="Calibri"/>
              </a:rPr>
              <a:t>Red for urgent, yellow for errands, blue for calls and more. Each tag prints as its own pattern, so color shows up even on a black-and-white printer.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Paper you can touch  </a:t>
            </a:r>
            <a:r>
              <a:rPr sz="1500">
                <a:solidFill>
                  <a:srgbClr val="6B6B6B"/>
                </a:solidFill>
                <a:latin typeface="Calibri"/>
              </a:rPr>
              <a:t>Checking a real box with a real pen gives a small reward that tapping a screen doesn't.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One automatic print, by design  </a:t>
            </a:r>
            <a:r>
              <a:rPr sz="1500">
                <a:solidFill>
                  <a:srgbClr val="6B6B6B"/>
                </a:solidFill>
                <a:latin typeface="Calibri"/>
              </a:rPr>
              <a:t>Nothing prints unless you ask, except today's list, once a day, when you walk into your office (through Home Assistant).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COLORED TAGS WITHOUT COLOR 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Color that works on a black-and-white printer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943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1B1B1B"/>
                </a:solidFill>
                <a:latin typeface="Calibri"/>
              </a:rPr>
              <a:t>Thermal printers only print black. Next Box gives each tag color two jobs: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Routing.  </a:t>
            </a:r>
            <a:r>
              <a:rPr sz="1600">
                <a:solidFill>
                  <a:srgbClr val="6B6B6B"/>
                </a:solidFill>
                <a:latin typeface="Calibri"/>
              </a:rPr>
              <a:t>Load red labels in one printer and white in another. Urgent stickers come out on red labels automatically.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Pattern.  </a:t>
            </a:r>
            <a:r>
              <a:rPr sz="1600">
                <a:solidFill>
                  <a:srgbClr val="6B6B6B"/>
                </a:solidFill>
                <a:latin typeface="Calibri"/>
              </a:rPr>
              <a:t>On any roll, each color prints as its own pattern: red is solid, yellow is dots, green is stripes, purple is crosshatch, and so on. You can tell tags apart at a glance.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Your colors.  </a:t>
            </a:r>
            <a:r>
              <a:rPr sz="1600">
                <a:solidFill>
                  <a:srgbClr val="6B6B6B"/>
                </a:solidFill>
                <a:latin typeface="Calibri"/>
              </a:rPr>
              <a:t>Tags match your Todoist labels or calendar categories by name, so a tag keeps the same color everywhere.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920240"/>
            <a:ext cx="457200" cy="411480"/>
          </a:xfrm>
          <a:prstGeom prst="roundRect">
            <a:avLst>
              <a:gd name="adj" fmla="val 8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red  ·  #urgent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48716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487168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orange  ·  #orange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054096"/>
            <a:ext cx="457200" cy="411480"/>
          </a:xfrm>
          <a:prstGeom prst="roundRect">
            <a:avLst>
              <a:gd name="adj" fmla="val 8000"/>
            </a:avLst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054096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yellow  ·  #errand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621024"/>
            <a:ext cx="457200" cy="411480"/>
          </a:xfrm>
          <a:prstGeom prst="roundRect">
            <a:avLst>
              <a:gd name="adj" fmla="val 8000"/>
            </a:avLst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621024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green  ·  #home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187952"/>
            <a:ext cx="457200" cy="411480"/>
          </a:xfrm>
          <a:prstGeom prst="roundRect">
            <a:avLst>
              <a:gd name="adj" fmla="val 8000"/>
            </a:avLst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187952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blue  ·  #call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754880"/>
            <a:ext cx="457200" cy="411480"/>
          </a:xfrm>
          <a:prstGeom prst="roundRect">
            <a:avLst>
              <a:gd name="adj" fmla="val 8000"/>
            </a:avLst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4754880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pink  ·  #pink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321808"/>
            <a:ext cx="457200" cy="411480"/>
          </a:xfrm>
          <a:prstGeom prst="roundRect">
            <a:avLst>
              <a:gd name="adj" fmla="val 8000"/>
            </a:avLst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5321808"/>
            <a:ext cx="3657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purple  ·  #work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CLOSE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Take a photo of the paper and your app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B1B1B"/>
                </a:solidFill>
                <a:latin typeface="Calibri"/>
              </a:rPr>
              <a:t>Mark it up.  </a:t>
            </a:r>
            <a:r>
              <a:rPr sz="1700">
                <a:solidFill>
                  <a:srgbClr val="6B6B6B"/>
                </a:solidFill>
                <a:latin typeface="Calibri"/>
              </a:rPr>
              <a:t>✓ done   → move to tomorrow   ✗ drop. The legend is printed on every daily ticket.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B1B1B"/>
                </a:solidFill>
                <a:latin typeface="Calibri"/>
              </a:rPr>
              <a:t>Snap it.  </a:t>
            </a:r>
            <a:r>
              <a:rPr sz="1700">
                <a:solidFill>
                  <a:srgbClr val="6B6B6B"/>
                </a:solidFill>
                <a:latin typeface="Calibri"/>
              </a:rPr>
              <a:t>Take a photo from the phone app. AI vision reads each numbered box.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B1B1B"/>
                </a:solidFill>
                <a:latin typeface="Calibri"/>
              </a:rPr>
              <a:t>Review it.  </a:t>
            </a:r>
            <a:r>
              <a:rPr sz="1700">
                <a:solidFill>
                  <a:srgbClr val="6B6B6B"/>
                </a:solidFill>
                <a:latin typeface="Calibri"/>
              </a:rPr>
              <a:t>Next Box shows what it found before changing anything, and you confirm.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B1B1B"/>
                </a:solidFill>
                <a:latin typeface="Calibri"/>
              </a:rPr>
              <a:t>Safe by default.  </a:t>
            </a:r>
            <a:r>
              <a:rPr sz="1700">
                <a:solidFill>
                  <a:srgbClr val="6B6B6B"/>
                </a:solidFill>
                <a:latin typeface="Calibri"/>
              </a:rPr>
              <a:t>Dropping a task never deletes it without an explicit yes.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920240"/>
            <a:ext cx="41148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148840"/>
            <a:ext cx="36576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Read-back found 3 marks</a:t>
            </a:r>
          </a:p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✓  Call the dentist → done</a:t>
            </a:r>
          </a:p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→  Pick up prescription → tomorrow</a:t>
            </a:r>
          </a:p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✗  Text Sam back → drop?</a:t>
            </a:r>
          </a:p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B1B1B"/>
                </a:solidFill>
                <a:latin typeface="Calibri"/>
              </a:rPr>
              <a:t>[ Apply ]   [ Fix one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WORKS WITH WHAT YOU ALREADY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Connect your to-do app and calendar, or use the built-in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TO-DO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Next Box's own list  </a:t>
            </a:r>
            <a:r>
              <a:rPr sz="1300">
                <a:solidFill>
                  <a:srgbClr val="6B6B6B"/>
                </a:solidFill>
                <a:latin typeface="Calibri"/>
              </a:rPr>
              <a:t>Built in, no account needed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Todoist  </a:t>
            </a:r>
            <a:r>
              <a:rPr sz="1300">
                <a:solidFill>
                  <a:srgbClr val="6B6B6B"/>
                </a:solidFill>
                <a:latin typeface="Calibri"/>
              </a:rPr>
              <a:t>Ready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Any CalDAV list  </a:t>
            </a:r>
            <a:r>
              <a:rPr sz="1300">
                <a:solidFill>
                  <a:srgbClr val="6B6B6B"/>
                </a:solidFill>
                <a:latin typeface="Calibri"/>
              </a:rPr>
              <a:t>Ready: Nextcloud, Fastmail, Synology, Zoho, older iCloud lists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Notion  </a:t>
            </a:r>
            <a:r>
              <a:rPr sz="1300">
                <a:solidFill>
                  <a:srgbClr val="6B6B6B"/>
                </a:solidFill>
                <a:latin typeface="Calibri"/>
              </a:rPr>
              <a:t>Ready: any database with a title and a checkbox or status column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Asana  </a:t>
            </a:r>
            <a:r>
              <a:rPr sz="1300">
                <a:solidFill>
                  <a:srgbClr val="6B6B6B"/>
                </a:solidFill>
                <a:latin typeface="Calibri"/>
              </a:rPr>
              <a:t>Ready: tasks assigned to you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Google Tasks  </a:t>
            </a:r>
            <a:r>
              <a:rPr sz="1300">
                <a:solidFill>
                  <a:srgbClr val="6B6B6B"/>
                </a:solidFill>
                <a:latin typeface="Calibri"/>
              </a:rPr>
              <a:t>Built; switches on after a one-time Google sign-in setup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Microsoft To Do  </a:t>
            </a:r>
            <a:r>
              <a:rPr sz="1300">
                <a:solidFill>
                  <a:srgbClr val="6B6B6B"/>
                </a:solidFill>
                <a:latin typeface="Calibri"/>
              </a:rPr>
              <a:t>Built; switches on after a one-time Microsoft sign-in setup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TickTick  </a:t>
            </a:r>
            <a:r>
              <a:rPr sz="1300">
                <a:solidFill>
                  <a:srgbClr val="6B6B6B"/>
                </a:solidFill>
                <a:latin typeface="Calibri"/>
              </a:rPr>
              <a:t>Built; switches on after a one-time TickTick sign-in setup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Apple Reminders, Things, Any.do, Google Keep  </a:t>
            </a:r>
            <a:r>
              <a:rPr sz="1300">
                <a:solidFill>
                  <a:srgbClr val="6B6B6B"/>
                </a:solidFill>
                <a:latin typeface="Calibri"/>
              </a:rPr>
              <a:t>Not possible: they don't let other apps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74519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CALENDARS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Any calendar link (.ics)  </a:t>
            </a:r>
            <a:r>
              <a:rPr sz="1300">
                <a:solidFill>
                  <a:srgbClr val="6B6B6B"/>
                </a:solidFill>
                <a:latin typeface="Calibri"/>
              </a:rPr>
              <a:t>Ready: Google, iCloud, Outlook and school or work calendars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CalDAV calendars  </a:t>
            </a:r>
            <a:r>
              <a:rPr sz="1300">
                <a:solidFill>
                  <a:srgbClr val="6B6B6B"/>
                </a:solidFill>
                <a:latin typeface="Calibri"/>
              </a:rPr>
              <a:t>Ready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B1B1B"/>
                </a:solidFill>
                <a:latin typeface="Calibri"/>
              </a:rPr>
              <a:t>Google Calendar, Outlook  </a:t>
            </a:r>
            <a:r>
              <a:rPr sz="1300">
                <a:solidFill>
                  <a:srgbClr val="6B6B6B"/>
                </a:solidFill>
                <a:latin typeface="Calibri"/>
              </a:rPr>
              <a:t>Built; switch on after the one-time sign-in setup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114800"/>
            <a:ext cx="4846320" cy="173736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4251960"/>
            <a:ext cx="448056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4300"/>
                </a:solidFill>
                <a:latin typeface="Calibri"/>
              </a:rPr>
              <a:t>Tasks stay in your app. Next Box reads them live and never makes a copy. Calendars are read-only and print as a SCHEDULE box on the daily ticket.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PRINTS ON ALMOST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From a $60 label printer to the office laser printer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Brother QL / PT label printers  </a:t>
            </a:r>
            <a:r>
              <a:rPr sz="1600">
                <a:solidFill>
                  <a:srgbClr val="6B6B6B"/>
                </a:solidFill>
                <a:latin typeface="Calibri"/>
              </a:rPr>
              <a:t>QL-800 series can print red ink too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ESC/POS receipt printers  </a:t>
            </a:r>
            <a:r>
              <a:rPr sz="1600">
                <a:solidFill>
                  <a:srgbClr val="6B6B6B"/>
                </a:solidFill>
                <a:latin typeface="Calibri"/>
              </a:rPr>
              <a:t>Epson, Star, most 58/80 mm printers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ZPL label printers  </a:t>
            </a:r>
            <a:r>
              <a:rPr sz="1600">
                <a:solidFill>
                  <a:srgbClr val="6B6B6B"/>
                </a:solidFill>
                <a:latin typeface="Calibri"/>
              </a:rPr>
              <a:t>Zebra and compatibles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TSPL label printers  </a:t>
            </a:r>
            <a:r>
              <a:rPr sz="1600">
                <a:solidFill>
                  <a:srgbClr val="6B6B6B"/>
                </a:solidFill>
                <a:latin typeface="Calibri"/>
              </a:rPr>
              <a:t>TSC, Munbyn, iDPRT, Xprinter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Anything installed on the computer  </a:t>
            </a:r>
            <a:r>
              <a:rPr sz="1600">
                <a:solidFill>
                  <a:srgbClr val="6B6B6B"/>
                </a:solidFill>
                <a:latin typeface="Calibri"/>
              </a:rPr>
              <a:t>Dymo, Rollo and USB printers, through CUPS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Any home or office printer  </a:t>
            </a:r>
            <a:r>
              <a:rPr sz="1600">
                <a:solidFill>
                  <a:srgbClr val="6B6B6B"/>
                </a:solidFill>
                <a:latin typeface="Calibri"/>
              </a:rPr>
              <a:t>'Print on paper' makes a Letter or A4 PDF with real-size stickers and cut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1993392"/>
            <a:ext cx="4059936" cy="29673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r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3840480" cy="27479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BUILT FOR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Privacy and safety are part of the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Your tasks stay where they are  </a:t>
            </a:r>
            <a:r>
              <a:rPr sz="1500">
                <a:solidFill>
                  <a:srgbClr val="6B6B6B"/>
                </a:solidFill>
                <a:latin typeface="Calibri"/>
              </a:rPr>
              <a:t>Tasks from a linked app are read live and never copied into Next Box. Calendars are read-only and never stored.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Invite-only  </a:t>
            </a:r>
            <a:r>
              <a:rPr sz="1500">
                <a:solidFill>
                  <a:srgbClr val="6B6B6B"/>
                </a:solidFill>
                <a:latin typeface="Calibri"/>
              </a:rPr>
              <a:t>No open sign-up. Every new person needs a one-time invite code.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Secrets sealed  </a:t>
            </a:r>
            <a:r>
              <a:rPr sz="1500">
                <a:solidFill>
                  <a:srgbClr val="6B6B6B"/>
                </a:solidFill>
                <a:latin typeface="Calibri"/>
              </a:rPr>
              <a:t>To-do app tokens are encrypted at rest. Passwords are hashed. Secrets never appear in logs or debug bundles.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You own your data  </a:t>
            </a:r>
            <a:r>
              <a:rPr sz="1500">
                <a:solidFill>
                  <a:srgbClr val="6B6B6B"/>
                </a:solidFill>
                <a:latin typeface="Calibri"/>
              </a:rPr>
              <a:t>Download everything as one file, or delete your account yourself.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Deleting needs a yes  </a:t>
            </a:r>
            <a:r>
              <a:rPr sz="1500">
                <a:solidFill>
                  <a:srgbClr val="6B6B6B"/>
                </a:solidFill>
                <a:latin typeface="Calibri"/>
              </a:rPr>
              <a:t>No task is ever deleted, even from a photo, without you confirming it.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Anonymous feedback  </a:t>
            </a:r>
            <a:r>
              <a:rPr sz="1500">
                <a:solidFill>
                  <a:srgbClr val="6B6B6B"/>
                </a:solidFill>
                <a:latin typeface="Calibri"/>
              </a:rPr>
              <a:t>The feedback board doesn't show who posted. Only one protected table links a post to a person.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Safe links  </a:t>
            </a:r>
            <a:r>
              <a:rPr sz="1500">
                <a:solidFill>
                  <a:srgbClr val="6B6B6B"/>
                </a:solidFill>
                <a:latin typeface="Calibri"/>
              </a:rPr>
              <a:t>Calendar and server addresses people type are checked so they can't point Next Box at private networks.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1B1B"/>
                </a:solidFill>
                <a:latin typeface="Calibri"/>
              </a:rPr>
              <a:t>Honest data notice  </a:t>
            </a:r>
            <a:r>
              <a:rPr sz="1500">
                <a:solidFill>
                  <a:srgbClr val="6B6B6B"/>
                </a:solidFill>
                <a:latin typeface="Calibri"/>
              </a:rPr>
              <a:t>Everyone agrees, in plain words, to exactly what the admin can see.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A COMPLETE APP, NOT A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Accounts, households and admin tools are already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FOR EVERYONE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39496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Profile page, full settings, light and dark theme, text size</a:t>
            </a:r>
          </a:p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Phone bottom tab bar, installable on the home screen, offline banner</a:t>
            </a:r>
          </a:p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Getting-started guide for new people, plus help, privacy, terms, about and 404 pages</a:t>
            </a:r>
          </a:p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Sign in with username or email, change password, signed-in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FOR ADMINS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539496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Households: families or teams share printers; each person keeps their own list.</a:t>
            </a:r>
          </a:p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Roles: person, household admin, superadmin. The protected owner account can never be locked out.</a:t>
            </a:r>
          </a:p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Super admin panel: every person, search and filters, reset passwords, sign out devices, bulk actions, CSV export. It shows task counts, never task text.</a:t>
            </a:r>
          </a:p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Every admin action is recorded in an audit log.</a:t>
            </a:r>
          </a:p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•  Built-in health check (`nextbox doctor`) and a 'new version available' banner.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People whose plans live better on paper than on a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Adults with ADHD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Often estimated at about 4–5% of adults in the US, and many more undiagnosed. They are underserved by screen-only productivity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67128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Paper-planner 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People who already buy planners, sticky notes and label makers, and want them to stay in sync.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79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7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Busy households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79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Families who share chores and errands, and teens building routines.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79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70247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Small teams and makers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79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Workshops, kitchens and front desks where a printed ticket beats a screen.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WHY NEXT BOX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It works with today's tools instead of replacing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To-do apps (Todoist, TickTick, Things)  </a:t>
            </a:r>
            <a:r>
              <a:rPr sz="1600">
                <a:solidFill>
                  <a:srgbClr val="6B6B6B"/>
                </a:solidFill>
                <a:latin typeface="Calibri"/>
              </a:rPr>
              <a:t>Great lists, but screen-only. Next Box works with them instead of replacing them.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Paper planners and sticky notes  </a:t>
            </a:r>
            <a:r>
              <a:rPr sz="1600">
                <a:solidFill>
                  <a:srgbClr val="6B6B6B"/>
                </a:solidFill>
                <a:latin typeface="Calibri"/>
              </a:rPr>
              <a:t>Tangible but disconnected. Next Box adds sync, tags and read-back.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DIY receipt-printer to-do hacks  </a:t>
            </a:r>
            <a:r>
              <a:rPr sz="1600">
                <a:solidFill>
                  <a:srgbClr val="6B6B6B"/>
                </a:solidFill>
                <a:latin typeface="Calibri"/>
              </a:rPr>
              <a:t>Hobby projects that print a list. None read the paper back, work with many apps, or design for ADHD.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B1B1B"/>
                </a:solidFill>
                <a:latin typeface="Calibri"/>
              </a:rPr>
              <a:t>ADHD apps (timers, body doubling)  </a:t>
            </a:r>
            <a:r>
              <a:rPr sz="1600">
                <a:solidFill>
                  <a:srgbClr val="6B6B6B"/>
                </a:solidFill>
                <a:latin typeface="Calibri"/>
              </a:rPr>
              <a:t>Help with focus in the moment. Next Box is the physical planning layer and works next to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920240"/>
            <a:ext cx="3749039" cy="3931920"/>
          </a:xfrm>
          <a:prstGeom prst="roundRect">
            <a:avLst>
              <a:gd name="adj" fmla="val 8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48840"/>
            <a:ext cx="329184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Only Next Box does all of these: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✓  Paper you can stick up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✓  Sync with real apps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✓  Read back from a photo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✓  Designed for ADHD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✓  Any printer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BUSINESS MODEL (OPTIONS)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Several ways to earn, still to be decided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Hosted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219456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Monthly plan for the cloud version: linked apps, photo read-back and calendars.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0312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Starter 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00400"/>
            <a:ext cx="219456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A label printer bundled with Next Box, set up out of the 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0312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Label refills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219456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Colored label rolls and sticker sheets, matched to the tag colors.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210312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39" y="233172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B1B1B"/>
                </a:solidFill>
                <a:latin typeface="Calibri"/>
              </a:rPr>
              <a:t>Free self-hosted edition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3200400"/>
            <a:ext cx="219456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For tinkerers. It builds trust and community.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Label refills add recurring revenue that follows usage: the more someone relies on Next Box, the more labels they print.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WHERE WE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A working product, live with real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5EFF"/>
                </a:solidFill>
                <a:latin typeface="Calibri"/>
              </a:rPr>
              <a:t>Live 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21945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Running at nextbox.braznarkel.com through Cloudflare, invite-only.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031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5EFF"/>
                </a:solidFill>
                <a:latin typeface="Calibri"/>
              </a:rPr>
              <a:t>Version 0.9.6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21945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Python and FastAPI server, PostgreSQL database, web app for phone and desktop.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031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5EFF"/>
                </a:solidFill>
                <a:latin typeface="Calibri"/>
              </a:rPr>
              <a:t>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21945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150+ automated tests, run against both SQLite and PostgreSQL.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21031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39" y="2331720"/>
            <a:ext cx="2194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5EFF"/>
                </a:solidFill>
                <a:latin typeface="Calibri"/>
              </a:rPr>
              <a:t>Self-hosted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3017520"/>
            <a:ext cx="21945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Runs on one home PC today. A cloud version is on the roadmap.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10972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B1B1B"/>
                </a:solidFill>
                <a:latin typeface="Calibri"/>
              </a:rPr>
              <a:t>Built so far: built-in list and 8 to-do app connections, 3 calendar types, 5 printer families plus paper PDF, 4 print formats, photo read-back, accounts, invites, households, super admin panel, data export, account deletion, legal pages and a phone-ready web app.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5EFF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1B1B1B"/>
                </a:solidFill>
                <a:latin typeface="Calibri"/>
              </a:rPr>
              <a:t>From home beta to a product people pay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84048" cy="6400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572768"/>
            <a:ext cx="384048" cy="6400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572768"/>
            <a:ext cx="384048" cy="6400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572768"/>
            <a:ext cx="384048" cy="6400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572768"/>
            <a:ext cx="384048" cy="6400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572768"/>
            <a:ext cx="384048" cy="6400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84048" cy="6400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1463040" cy="822960"/>
          </a:xfrm>
          <a:prstGeom prst="roundRect">
            <a:avLst>
              <a:gd name="adj" fmla="val 8000"/>
            </a:avLst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14630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965960"/>
            <a:ext cx="91440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B1B1B"/>
                </a:solidFill>
                <a:latin typeface="Calibri"/>
              </a:rPr>
              <a:t>Live beta with invited testers. First real prints on the Brother QL-1110NWB.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1463040" cy="822960"/>
          </a:xfrm>
          <a:prstGeom prst="roundRect">
            <a:avLst>
              <a:gd name="adj" fmla="val 8000"/>
            </a:avLst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14630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017520"/>
            <a:ext cx="91440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B1B1B"/>
                </a:solidFill>
                <a:latin typeface="Calibri"/>
              </a:rPr>
              <a:t>Turn on Google, Microsoft and TickTick sign-in. Print straight from a phone. Publish the braznarkel.com homepage.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79"/>
            <a:ext cx="1463040" cy="822960"/>
          </a:xfrm>
          <a:prstGeom prst="roundRect">
            <a:avLst>
              <a:gd name="adj" fmla="val 8000"/>
            </a:avLst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79"/>
            <a:ext cx="14630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069079"/>
            <a:ext cx="91440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B1B1B"/>
                </a:solidFill>
                <a:latin typeface="Calibri"/>
              </a:rPr>
              <a:t>Cloud hosting, AI 'break it down' into tiny steps, a focus timer, color printing on paper.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463040" cy="822960"/>
          </a:xfrm>
          <a:prstGeom prst="roundRect">
            <a:avLst>
              <a:gd name="adj" fmla="val 8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4630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120640"/>
            <a:ext cx="91440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0">
                <a:solidFill>
                  <a:srgbClr val="1B1B1B"/>
                </a:solidFill>
                <a:latin typeface="Calibri"/>
              </a:rPr>
              <a:t>Legal review of the privacy policy and terms, pricing, and a starter-kit partner.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Next Box  ·  Your to-do list, on paper you can hold.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548640" cy="10972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1828800"/>
            <a:ext cx="548640" cy="109728"/>
          </a:xfrm>
          <a:prstGeom prst="rect">
            <a:avLst/>
          </a:prstGeom>
          <a:solidFill>
            <a:srgbClr val="EF7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548640" cy="109728"/>
          </a:xfrm>
          <a:prstGeom prst="rect">
            <a:avLst/>
          </a:prstGeom>
          <a:solidFill>
            <a:srgbClr val="E8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40" y="1828800"/>
            <a:ext cx="548640" cy="109728"/>
          </a:xfrm>
          <a:prstGeom prst="rect">
            <a:avLst/>
          </a:prstGeom>
          <a:solidFill>
            <a:srgbClr val="2E9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828800"/>
            <a:ext cx="548640" cy="109728"/>
          </a:xfrm>
          <a:prstGeom prst="rect">
            <a:avLst/>
          </a:prstGeom>
          <a:solidFill>
            <a:srgbClr val="2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548640" cy="109728"/>
          </a:xfrm>
          <a:prstGeom prst="rect">
            <a:avLst/>
          </a:prstGeom>
          <a:solidFill>
            <a:srgbClr val="E05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0" y="1828800"/>
            <a:ext cx="548640" cy="109728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Get the list out of the phone.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DDDDDD"/>
                </a:solidFill>
                <a:latin typeface="Calibri"/>
              </a:rPr>
              <a:t>And into the room, where it gets done.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B0B0B0"/>
                </a:solidFill>
                <a:latin typeface="Calibri"/>
              </a:rPr>
              <a:t>Try the beta: nextbox.braznarkel.com (invite only)</a:t>
            </a:r>
          </a:p>
          <a:p>
            <a:pPr algn="l"/>
            <a:r>
              <a:rPr sz="1800" b="0">
                <a:solidFill>
                  <a:srgbClr val="B0B0B0"/>
                </a:solidFill>
                <a:latin typeface="Calibri"/>
              </a:rPr>
              <a:t>Braznarkel  ·  braznarkel.com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